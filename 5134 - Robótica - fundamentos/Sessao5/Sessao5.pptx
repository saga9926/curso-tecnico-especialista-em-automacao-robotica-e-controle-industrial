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790" r:id="rId3"/>
    <p:sldId id="806" r:id="rId4"/>
    <p:sldId id="784" r:id="rId5"/>
    <p:sldId id="798" r:id="rId6"/>
    <p:sldId id="781" r:id="rId7"/>
    <p:sldId id="791" r:id="rId8"/>
    <p:sldId id="783" r:id="rId9"/>
    <p:sldId id="792" r:id="rId10"/>
    <p:sldId id="805" r:id="rId11"/>
    <p:sldId id="757" r:id="rId12"/>
    <p:sldId id="755" r:id="rId13"/>
    <p:sldId id="758" r:id="rId14"/>
    <p:sldId id="760" r:id="rId15"/>
    <p:sldId id="761" r:id="rId16"/>
    <p:sldId id="762" r:id="rId17"/>
    <p:sldId id="777" r:id="rId18"/>
    <p:sldId id="789" r:id="rId19"/>
    <p:sldId id="803" r:id="rId20"/>
    <p:sldId id="802" r:id="rId21"/>
    <p:sldId id="546" r:id="rId22"/>
    <p:sldId id="793" r:id="rId23"/>
    <p:sldId id="549" r:id="rId24"/>
    <p:sldId id="801" r:id="rId25"/>
    <p:sldId id="785" r:id="rId26"/>
    <p:sldId id="794" r:id="rId27"/>
    <p:sldId id="547" r:id="rId28"/>
    <p:sldId id="799" r:id="rId29"/>
    <p:sldId id="548" r:id="rId30"/>
    <p:sldId id="800" r:id="rId31"/>
    <p:sldId id="804" r:id="rId32"/>
    <p:sldId id="538" r:id="rId33"/>
    <p:sldId id="771" r:id="rId3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79" d="100"/>
          <a:sy n="79" d="100"/>
        </p:scale>
        <p:origin x="8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1BB8CE-1FBD-423E-A639-720AE858BEA2}" type="datetimeFigureOut">
              <a:rPr lang="en-GB" smtClean="0"/>
              <a:t>12/04/2024</a:t>
            </a:fld>
            <a:endParaRPr lang="en-GB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B64000-E09D-431B-8B28-44DF8540A6DA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3071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B64000-E09D-431B-8B28-44DF8540A6DA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5181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9BCA56-E5BD-4442-3E31-F37744F501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D2F13BE-481A-C3EF-5740-2608BDD4E8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GB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7E3D182-9525-602C-D787-1ABD1F589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6AED7-94E9-4B11-82C2-99FC6B161FBC}" type="datetimeFigureOut">
              <a:rPr lang="en-GB" smtClean="0"/>
              <a:t>12/04/2024</a:t>
            </a:fld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865D15A9-8042-1971-7E5D-42E926ECF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1925845-547F-2564-9DE2-BEFADCB9E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6089D-90A1-4BC6-A9FB-C6644F08AAD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9142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211E6B-B981-6FEE-58F4-C987631B2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DF3B692-8845-7C29-4D41-9513A49F1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C6BA164-7D6E-3994-6F29-9E2AAC3DD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6AED7-94E9-4B11-82C2-99FC6B161FBC}" type="datetimeFigureOut">
              <a:rPr lang="en-GB" smtClean="0"/>
              <a:t>12/04/2024</a:t>
            </a:fld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A733E5D-4BC5-DABB-CD36-4B84500DD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F987ED8-6490-5E2D-B05E-9DD7CBF06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6089D-90A1-4BC6-A9FB-C6644F08AAD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2923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D2D72A-27E0-99B8-6AE1-DAE38C1CC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BC6D1122-49AA-DC26-8362-1FEE33942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D3800CD-F99E-1005-179A-7737C971C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6AED7-94E9-4B11-82C2-99FC6B161FBC}" type="datetimeFigureOut">
              <a:rPr lang="en-GB" smtClean="0"/>
              <a:t>12/04/2024</a:t>
            </a:fld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295132D-F4E1-95F9-065F-A2C90B2B7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CD8EC45-E85F-915E-E496-3430C2A78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6089D-90A1-4BC6-A9FB-C6644F08AAD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1434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CF3E1C-CED8-E230-B15B-9F28A9B7F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96F8048-5505-3E3C-221E-EE22F92433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CFB291C5-F3B0-87B2-8905-4D7937A3D1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E55FEAA0-A58F-F418-B029-9BAB786CD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6AED7-94E9-4B11-82C2-99FC6B161FBC}" type="datetimeFigureOut">
              <a:rPr lang="en-GB" smtClean="0"/>
              <a:t>12/04/2024</a:t>
            </a:fld>
            <a:endParaRPr lang="en-GB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9E70D2C0-344C-3C01-55CD-BE41721D0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13FB6CD5-EBA3-12C5-7403-2D89DF548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6089D-90A1-4BC6-A9FB-C6644F08AAD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0788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8CC66A-EE98-7A1D-4F5F-06088DABC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86C20916-0469-F4FA-3D2F-82A583839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2790FCCD-22C8-EDB9-67D4-7A719CCA34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777E5FAD-C596-34A4-EC37-09036CD0CD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1A6CB16B-EEC5-3D60-C6AB-F0DCFAC286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6E1F8581-3300-A37F-B368-313DEA858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6AED7-94E9-4B11-82C2-99FC6B161FBC}" type="datetimeFigureOut">
              <a:rPr lang="en-GB" smtClean="0"/>
              <a:t>12/04/2024</a:t>
            </a:fld>
            <a:endParaRPr lang="en-GB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B1204A27-B3D1-5ABC-F96F-EDADFC323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BDDBF9AD-38FD-9552-F4C3-2867B58D3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6089D-90A1-4BC6-A9FB-C6644F08AAD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1158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B3F384-9FBD-9D00-C5CC-03085D6F3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E6BA2BA5-0484-089E-4748-3F460FF49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6AED7-94E9-4B11-82C2-99FC6B161FBC}" type="datetimeFigureOut">
              <a:rPr lang="en-GB" smtClean="0"/>
              <a:t>12/04/2024</a:t>
            </a:fld>
            <a:endParaRPr lang="en-GB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3945E3C9-D282-7BEC-A646-AFD2DCC28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2C1F4C1E-ED7E-90A8-5F0A-8F09E8ADB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6089D-90A1-4BC6-A9FB-C6644F08AAD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0218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CD6E10C2-6361-B277-D1CD-FC6868DA4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6AED7-94E9-4B11-82C2-99FC6B161FBC}" type="datetimeFigureOut">
              <a:rPr lang="en-GB" smtClean="0"/>
              <a:t>12/04/2024</a:t>
            </a:fld>
            <a:endParaRPr lang="en-GB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B47CF82C-1160-C0E7-CFDA-2AB9FBF40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2D59572E-A585-C164-4296-B7D6888A7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6089D-90A1-4BC6-A9FB-C6644F08AAD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6281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C39607-9B4F-2CE9-A8E3-E9F1356D1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70AF9ED-60D0-B581-D9AE-4BDD08734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4EB574B7-04C0-25B2-DA45-9516507D4A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F03FF4E3-D438-2FE3-199C-87E790A89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6AED7-94E9-4B11-82C2-99FC6B161FBC}" type="datetimeFigureOut">
              <a:rPr lang="en-GB" smtClean="0"/>
              <a:t>12/04/2024</a:t>
            </a:fld>
            <a:endParaRPr lang="en-GB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8C638A44-95AF-C50C-566D-364A2711D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871D28E7-55C3-2791-AB1C-0F2F911E1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6089D-90A1-4BC6-A9FB-C6644F08AAD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0836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146DF5-6638-84F5-A6F5-0FA219DF9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3F17F80C-6374-0E85-5460-8A696389D0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FD0A7965-D051-9A17-BD23-8167630AFC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2CB7CC16-091A-07C3-F70F-CCA1AEA60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6AED7-94E9-4B11-82C2-99FC6B161FBC}" type="datetimeFigureOut">
              <a:rPr lang="en-GB" smtClean="0"/>
              <a:t>12/04/2024</a:t>
            </a:fld>
            <a:endParaRPr lang="en-GB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FECC6D3E-CEEB-A872-02D0-C1C4021F7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365A9A01-8CB5-8C15-A47F-9BDC15CAA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6089D-90A1-4BC6-A9FB-C6644F08AAD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5275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40E256-DCB4-7C9F-E88C-D0F34CD46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5F636C42-0FBF-D4A9-F9F2-F2C9B1E4DE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5DF1B14-C5CF-321C-AE27-F0F30C95E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6AED7-94E9-4B11-82C2-99FC6B161FBC}" type="datetimeFigureOut">
              <a:rPr lang="en-GB" smtClean="0"/>
              <a:t>12/04/2024</a:t>
            </a:fld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CFA5B82-4E23-8A48-AFDB-3EA92453A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1EE6A4C-B071-4AFF-BF8B-6A267636F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6089D-90A1-4BC6-A9FB-C6644F08AAD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6122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F4F80D8-315C-0545-B95C-4EE475FBB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02024AEA-2D7D-7FAC-860B-53DFDFFDC5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73805A4-5A53-BECA-60A3-EB3D8929C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6AED7-94E9-4B11-82C2-99FC6B161FBC}" type="datetimeFigureOut">
              <a:rPr lang="en-GB" smtClean="0"/>
              <a:t>12/04/2024</a:t>
            </a:fld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D9D2C37A-8805-C717-0041-A4D22562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A0C8A22C-86F1-518F-975A-5CE924B2E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6089D-90A1-4BC6-A9FB-C6644F08AAD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7356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DA0951BA-67CD-C658-51F7-92C4D7DAB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8737E7F0-EB4D-315E-846A-08DA2E36D2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2276D71-7CC7-901C-2C0B-7B9F998441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A6AED7-94E9-4B11-82C2-99FC6B161FBC}" type="datetimeFigureOut">
              <a:rPr lang="en-GB" smtClean="0"/>
              <a:t>12/04/2024</a:t>
            </a:fld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E5BF74C-2C13-A1E3-1E39-166E10C029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A2B0F5CC-C2B2-6096-C8F0-B5E161DC11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06089D-90A1-4BC6-A9FB-C6644F08AAD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8861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www.aignep.com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43F0F6F-29B1-1FED-69C7-BF1FACF9A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793" y="2404526"/>
            <a:ext cx="11016414" cy="204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292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90B803E-F3E2-DF21-52F0-CAE1B466971F}"/>
              </a:ext>
            </a:extLst>
          </p:cNvPr>
          <p:cNvSpPr/>
          <p:nvPr/>
        </p:nvSpPr>
        <p:spPr>
          <a:xfrm>
            <a:off x="262648" y="1254868"/>
            <a:ext cx="11659296" cy="5028237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CC95D7A8-8994-F538-BA08-7B64B3D4825F}"/>
              </a:ext>
            </a:extLst>
          </p:cNvPr>
          <p:cNvSpPr txBox="1">
            <a:spLocks/>
          </p:cNvSpPr>
          <p:nvPr/>
        </p:nvSpPr>
        <p:spPr>
          <a:xfrm>
            <a:off x="460953" y="170746"/>
            <a:ext cx="11270093" cy="9479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4000" dirty="0"/>
              <a:t>Que novos tópicos e conceitos aprendeu? </a:t>
            </a:r>
            <a:endParaRPr lang="en-GB" sz="4000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2575CD89-8A6C-90AE-0881-8F8AC9398BF6}"/>
              </a:ext>
            </a:extLst>
          </p:cNvPr>
          <p:cNvSpPr txBox="1">
            <a:spLocks/>
          </p:cNvSpPr>
          <p:nvPr/>
        </p:nvSpPr>
        <p:spPr>
          <a:xfrm>
            <a:off x="1128919" y="1480737"/>
            <a:ext cx="10174621" cy="9479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4000" dirty="0"/>
              <a:t>…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37351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B2C8A5F-C4C0-AA23-2280-18573ED15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27" y="2673713"/>
            <a:ext cx="12029146" cy="3786414"/>
          </a:xfrm>
          <a:prstGeom prst="rect">
            <a:avLst/>
          </a:prstGeom>
        </p:spPr>
      </p:pic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F15E19E0-D48A-44B2-20EF-0FCD2908DD19}"/>
              </a:ext>
            </a:extLst>
          </p:cNvPr>
          <p:cNvSpPr/>
          <p:nvPr/>
        </p:nvSpPr>
        <p:spPr>
          <a:xfrm>
            <a:off x="3059852" y="3209930"/>
            <a:ext cx="6648352" cy="417398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5F18F93-24D5-E462-7CAC-92EA45DEA241}"/>
              </a:ext>
            </a:extLst>
          </p:cNvPr>
          <p:cNvSpPr/>
          <p:nvPr/>
        </p:nvSpPr>
        <p:spPr>
          <a:xfrm>
            <a:off x="3059852" y="2794851"/>
            <a:ext cx="6988820" cy="389299"/>
          </a:xfrm>
          <a:prstGeom prst="round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DBCB3142-AB2B-FD32-E105-C4317837C476}"/>
              </a:ext>
            </a:extLst>
          </p:cNvPr>
          <p:cNvSpPr/>
          <p:nvPr/>
        </p:nvSpPr>
        <p:spPr>
          <a:xfrm>
            <a:off x="3059852" y="3709674"/>
            <a:ext cx="6648352" cy="389299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CEC04557-42AB-F327-AC8D-34E492591306}"/>
              </a:ext>
            </a:extLst>
          </p:cNvPr>
          <p:cNvSpPr/>
          <p:nvPr/>
        </p:nvSpPr>
        <p:spPr>
          <a:xfrm>
            <a:off x="3059851" y="4131808"/>
            <a:ext cx="9050721" cy="435577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FF549C4D-38E0-3264-8AB6-8215E5913B42}"/>
              </a:ext>
            </a:extLst>
          </p:cNvPr>
          <p:cNvSpPr/>
          <p:nvPr/>
        </p:nvSpPr>
        <p:spPr>
          <a:xfrm>
            <a:off x="3059850" y="4612734"/>
            <a:ext cx="6307885" cy="389299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727D2348-F931-B08B-49A9-9D65C6FAB566}"/>
              </a:ext>
            </a:extLst>
          </p:cNvPr>
          <p:cNvSpPr/>
          <p:nvPr/>
        </p:nvSpPr>
        <p:spPr>
          <a:xfrm>
            <a:off x="3033213" y="5058009"/>
            <a:ext cx="7842310" cy="389299"/>
          </a:xfrm>
          <a:prstGeom prst="round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565687D8-183D-8650-F3CE-51681EA49E4E}"/>
              </a:ext>
            </a:extLst>
          </p:cNvPr>
          <p:cNvSpPr/>
          <p:nvPr/>
        </p:nvSpPr>
        <p:spPr>
          <a:xfrm>
            <a:off x="3033213" y="5543893"/>
            <a:ext cx="5925961" cy="389299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98B79B1A-131A-EA35-BAC9-03DA36DEB0CC}"/>
              </a:ext>
            </a:extLst>
          </p:cNvPr>
          <p:cNvSpPr/>
          <p:nvPr/>
        </p:nvSpPr>
        <p:spPr>
          <a:xfrm>
            <a:off x="3029161" y="6015538"/>
            <a:ext cx="8644030" cy="389299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F96F8CD-1073-7552-8048-6912F18AE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950" y="182253"/>
            <a:ext cx="10476689" cy="985899"/>
          </a:xfrm>
        </p:spPr>
        <p:txBody>
          <a:bodyPr>
            <a:noAutofit/>
          </a:bodyPr>
          <a:lstStyle/>
          <a:p>
            <a:pPr algn="ctr"/>
            <a:r>
              <a:rPr lang="pt-PT" sz="4000" b="1" dirty="0">
                <a:solidFill>
                  <a:schemeClr val="accent6"/>
                </a:solidFill>
              </a:rPr>
              <a:t>Objetivos</a:t>
            </a:r>
            <a:r>
              <a:rPr lang="pt-PT" sz="4000" dirty="0"/>
              <a:t> a cumprir para atingir o </a:t>
            </a:r>
            <a:r>
              <a:rPr lang="pt-PT" sz="4000" b="1" dirty="0">
                <a:solidFill>
                  <a:schemeClr val="accent6"/>
                </a:solidFill>
              </a:rPr>
              <a:t>Perfil de Saída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088EC4D-693E-87DF-E952-1544BFF49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913" y="3255279"/>
            <a:ext cx="344969" cy="326700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A3B6E436-9A47-9F58-D8A4-F978A17FC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0270" y="6016443"/>
            <a:ext cx="344969" cy="3267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42029825-DC5D-71BD-D17F-71B9DEBFAB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0324" y="2791882"/>
            <a:ext cx="344970" cy="340195"/>
          </a:xfrm>
          <a:prstGeom prst="rect">
            <a:avLst/>
          </a:prstGeom>
          <a:ln>
            <a:solidFill>
              <a:srgbClr val="FFC000"/>
            </a:solidFill>
          </a:ln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6F9B4E91-45E4-EB49-2434-CC80F0D4B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9624" y="5089308"/>
            <a:ext cx="344969" cy="3267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5B8C7F0-41AE-CC84-6B31-8AA70DF26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913" y="3688630"/>
            <a:ext cx="344969" cy="3267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1175AA2-C678-DF74-76F4-8DECFC89A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5603" y="4612734"/>
            <a:ext cx="344969" cy="326700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AB50FF31-E97A-B6FC-E5D4-7531D0E5A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4737" y="4627012"/>
            <a:ext cx="344969" cy="326700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89266AE7-7114-677D-4B6F-9F9EEF2B6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3002" y="5543893"/>
            <a:ext cx="344969" cy="32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034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C5B51B4-8DCF-3D74-4D81-CB2B434F33BD}"/>
              </a:ext>
            </a:extLst>
          </p:cNvPr>
          <p:cNvSpPr/>
          <p:nvPr/>
        </p:nvSpPr>
        <p:spPr>
          <a:xfrm>
            <a:off x="137807" y="1984443"/>
            <a:ext cx="11535383" cy="465954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78B7077E-E02F-91C4-4A68-758BD083C252}"/>
              </a:ext>
            </a:extLst>
          </p:cNvPr>
          <p:cNvSpPr txBox="1">
            <a:spLocks/>
          </p:cNvSpPr>
          <p:nvPr/>
        </p:nvSpPr>
        <p:spPr>
          <a:xfrm>
            <a:off x="392346" y="398835"/>
            <a:ext cx="11026304" cy="13035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3200" b="1" dirty="0">
                <a:solidFill>
                  <a:schemeClr val="accent2"/>
                </a:solidFill>
              </a:rPr>
              <a:t>Exercício</a:t>
            </a:r>
            <a:r>
              <a:rPr lang="pt-PT" sz="3200" b="1" dirty="0"/>
              <a:t>:</a:t>
            </a:r>
          </a:p>
          <a:p>
            <a:pPr>
              <a:lnSpc>
                <a:spcPct val="150000"/>
              </a:lnSpc>
            </a:pPr>
            <a:r>
              <a:rPr lang="pt-PT" sz="3200" b="1" dirty="0"/>
              <a:t>Desenha uma mesa parecida com a debaixo, pronta para ser </a:t>
            </a:r>
            <a:r>
              <a:rPr lang="pt-PT" sz="3200" b="1" u="sng" dirty="0">
                <a:solidFill>
                  <a:schemeClr val="accent2"/>
                </a:solidFill>
              </a:rPr>
              <a:t>cortada a laser</a:t>
            </a:r>
            <a:r>
              <a:rPr lang="pt-PT" sz="3200" b="1" dirty="0"/>
              <a:t>. </a:t>
            </a:r>
            <a:r>
              <a:rPr lang="pt-PT" sz="3200" b="1" u="sng" dirty="0"/>
              <a:t>Recomendação</a:t>
            </a:r>
            <a:r>
              <a:rPr lang="pt-PT" sz="3200" b="1" dirty="0"/>
              <a:t>: Usar ficheiro “</a:t>
            </a:r>
            <a:r>
              <a:rPr lang="pt-PT" sz="3200" b="1" dirty="0" err="1"/>
              <a:t>sheet</a:t>
            </a:r>
            <a:r>
              <a:rPr lang="pt-PT" sz="3200" b="1" dirty="0"/>
              <a:t> metal”.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E7CEE77-80A3-E48A-C41F-1867489DD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937" y="2181021"/>
            <a:ext cx="9382125" cy="443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02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90B803E-F3E2-DF21-52F0-CAE1B466971F}"/>
              </a:ext>
            </a:extLst>
          </p:cNvPr>
          <p:cNvSpPr/>
          <p:nvPr/>
        </p:nvSpPr>
        <p:spPr>
          <a:xfrm>
            <a:off x="262648" y="1254868"/>
            <a:ext cx="11659296" cy="5028237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CC95D7A8-8994-F538-BA08-7B64B3D4825F}"/>
              </a:ext>
            </a:extLst>
          </p:cNvPr>
          <p:cNvSpPr txBox="1">
            <a:spLocks/>
          </p:cNvSpPr>
          <p:nvPr/>
        </p:nvSpPr>
        <p:spPr>
          <a:xfrm>
            <a:off x="460953" y="170746"/>
            <a:ext cx="11270093" cy="9479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4000" dirty="0"/>
              <a:t>Que novos tópicos e conceitos aprendeu? </a:t>
            </a:r>
            <a:endParaRPr lang="en-GB" sz="4000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2575CD89-8A6C-90AE-0881-8F8AC9398BF6}"/>
              </a:ext>
            </a:extLst>
          </p:cNvPr>
          <p:cNvSpPr txBox="1">
            <a:spLocks/>
          </p:cNvSpPr>
          <p:nvPr/>
        </p:nvSpPr>
        <p:spPr>
          <a:xfrm>
            <a:off x="1128919" y="1480737"/>
            <a:ext cx="10174621" cy="9479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4000" dirty="0"/>
              <a:t>…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4064873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78B7077E-E02F-91C4-4A68-758BD083C252}"/>
              </a:ext>
            </a:extLst>
          </p:cNvPr>
          <p:cNvSpPr txBox="1">
            <a:spLocks/>
          </p:cNvSpPr>
          <p:nvPr/>
        </p:nvSpPr>
        <p:spPr>
          <a:xfrm>
            <a:off x="291830" y="201531"/>
            <a:ext cx="5552873" cy="13599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3200" b="1" dirty="0">
                <a:solidFill>
                  <a:schemeClr val="accent2"/>
                </a:solidFill>
              </a:rPr>
              <a:t>Exercício</a:t>
            </a:r>
            <a:r>
              <a:rPr lang="pt-PT" sz="3200" b="1" dirty="0"/>
              <a:t>:</a:t>
            </a:r>
          </a:p>
          <a:p>
            <a:pPr>
              <a:lnSpc>
                <a:spcPct val="150000"/>
              </a:lnSpc>
            </a:pPr>
            <a:r>
              <a:rPr lang="pt-PT" sz="3200" b="1" dirty="0"/>
              <a:t>Desenha o perfil de alumínio.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E82801A-044D-727C-C1D8-A721E0563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1360" y="1473911"/>
            <a:ext cx="7077075" cy="488632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64A61FB-C36C-B4F6-BB88-FBB0B994A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320" y="3240082"/>
            <a:ext cx="2744721" cy="215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353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90B803E-F3E2-DF21-52F0-CAE1B466971F}"/>
              </a:ext>
            </a:extLst>
          </p:cNvPr>
          <p:cNvSpPr/>
          <p:nvPr/>
        </p:nvSpPr>
        <p:spPr>
          <a:xfrm>
            <a:off x="262648" y="1254868"/>
            <a:ext cx="11659296" cy="5028237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CC95D7A8-8994-F538-BA08-7B64B3D4825F}"/>
              </a:ext>
            </a:extLst>
          </p:cNvPr>
          <p:cNvSpPr txBox="1">
            <a:spLocks/>
          </p:cNvSpPr>
          <p:nvPr/>
        </p:nvSpPr>
        <p:spPr>
          <a:xfrm>
            <a:off x="460953" y="170746"/>
            <a:ext cx="11270093" cy="9479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4000" dirty="0"/>
              <a:t>Que novos tópicos e conceitos aprendeu? </a:t>
            </a:r>
            <a:endParaRPr lang="en-GB" sz="4000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2575CD89-8A6C-90AE-0881-8F8AC9398BF6}"/>
              </a:ext>
            </a:extLst>
          </p:cNvPr>
          <p:cNvSpPr txBox="1">
            <a:spLocks/>
          </p:cNvSpPr>
          <p:nvPr/>
        </p:nvSpPr>
        <p:spPr>
          <a:xfrm>
            <a:off x="1128919" y="1480737"/>
            <a:ext cx="10174621" cy="9479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4000" dirty="0"/>
              <a:t>…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4076946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78B7077E-E02F-91C4-4A68-758BD083C252}"/>
              </a:ext>
            </a:extLst>
          </p:cNvPr>
          <p:cNvSpPr txBox="1">
            <a:spLocks/>
          </p:cNvSpPr>
          <p:nvPr/>
        </p:nvSpPr>
        <p:spPr>
          <a:xfrm>
            <a:off x="413424" y="214009"/>
            <a:ext cx="5552873" cy="34949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3200" b="1" dirty="0">
                <a:solidFill>
                  <a:schemeClr val="accent2"/>
                </a:solidFill>
              </a:rPr>
              <a:t>Exercício</a:t>
            </a:r>
            <a:r>
              <a:rPr lang="pt-PT" sz="3200" b="1" dirty="0"/>
              <a:t>:</a:t>
            </a:r>
          </a:p>
          <a:p>
            <a:pPr>
              <a:lnSpc>
                <a:spcPct val="150000"/>
              </a:lnSpc>
            </a:pPr>
            <a:r>
              <a:rPr lang="pt-PT" sz="3200" b="1" dirty="0"/>
              <a:t>8. </a:t>
            </a:r>
            <a:r>
              <a:rPr lang="pt-PT" sz="3200" dirty="0"/>
              <a:t>Montar uma estrutura com o </a:t>
            </a:r>
            <a:r>
              <a:rPr lang="pt-PT" sz="3200" b="1" u="sng" dirty="0"/>
              <a:t>formato da imagem ao lado</a:t>
            </a:r>
            <a:r>
              <a:rPr lang="pt-PT" sz="3200" dirty="0"/>
              <a:t>, usando o perfil do exercício 5.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7611500-08C2-41AF-D2B5-525250D31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3389" y="373722"/>
            <a:ext cx="3705225" cy="614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682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90B803E-F3E2-DF21-52F0-CAE1B466971F}"/>
              </a:ext>
            </a:extLst>
          </p:cNvPr>
          <p:cNvSpPr/>
          <p:nvPr/>
        </p:nvSpPr>
        <p:spPr>
          <a:xfrm>
            <a:off x="262648" y="1254868"/>
            <a:ext cx="11659296" cy="5028237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CC95D7A8-8994-F538-BA08-7B64B3D4825F}"/>
              </a:ext>
            </a:extLst>
          </p:cNvPr>
          <p:cNvSpPr txBox="1">
            <a:spLocks/>
          </p:cNvSpPr>
          <p:nvPr/>
        </p:nvSpPr>
        <p:spPr>
          <a:xfrm>
            <a:off x="460953" y="170746"/>
            <a:ext cx="11270093" cy="9479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4000" dirty="0"/>
              <a:t>Que novos tópicos e conceitos aprendeu? </a:t>
            </a:r>
            <a:endParaRPr lang="en-GB" sz="4000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2575CD89-8A6C-90AE-0881-8F8AC9398BF6}"/>
              </a:ext>
            </a:extLst>
          </p:cNvPr>
          <p:cNvSpPr txBox="1">
            <a:spLocks/>
          </p:cNvSpPr>
          <p:nvPr/>
        </p:nvSpPr>
        <p:spPr>
          <a:xfrm>
            <a:off x="1128919" y="1480737"/>
            <a:ext cx="10174621" cy="9479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4000" dirty="0"/>
              <a:t>…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51414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B2C8A5F-C4C0-AA23-2280-18573ED15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27" y="2673713"/>
            <a:ext cx="12029146" cy="3786414"/>
          </a:xfrm>
          <a:prstGeom prst="rect">
            <a:avLst/>
          </a:prstGeom>
        </p:spPr>
      </p:pic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F15E19E0-D48A-44B2-20EF-0FCD2908DD19}"/>
              </a:ext>
            </a:extLst>
          </p:cNvPr>
          <p:cNvSpPr/>
          <p:nvPr/>
        </p:nvSpPr>
        <p:spPr>
          <a:xfrm>
            <a:off x="3059852" y="3209930"/>
            <a:ext cx="6648352" cy="417398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5F18F93-24D5-E462-7CAC-92EA45DEA241}"/>
              </a:ext>
            </a:extLst>
          </p:cNvPr>
          <p:cNvSpPr/>
          <p:nvPr/>
        </p:nvSpPr>
        <p:spPr>
          <a:xfrm>
            <a:off x="3059852" y="2794851"/>
            <a:ext cx="6988820" cy="389299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DBCB3142-AB2B-FD32-E105-C4317837C476}"/>
              </a:ext>
            </a:extLst>
          </p:cNvPr>
          <p:cNvSpPr/>
          <p:nvPr/>
        </p:nvSpPr>
        <p:spPr>
          <a:xfrm>
            <a:off x="3059852" y="3709674"/>
            <a:ext cx="6648352" cy="389299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CEC04557-42AB-F327-AC8D-34E492591306}"/>
              </a:ext>
            </a:extLst>
          </p:cNvPr>
          <p:cNvSpPr/>
          <p:nvPr/>
        </p:nvSpPr>
        <p:spPr>
          <a:xfrm>
            <a:off x="3059851" y="4131808"/>
            <a:ext cx="9050721" cy="435577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CAF3872F-FEB7-C332-C0B0-726EF55D7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6187" y="3692176"/>
            <a:ext cx="344970" cy="340195"/>
          </a:xfrm>
          <a:prstGeom prst="rect">
            <a:avLst/>
          </a:prstGeom>
          <a:ln>
            <a:solidFill>
              <a:srgbClr val="FFC000"/>
            </a:solidFill>
          </a:ln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AF7F81DA-9636-CE9B-2798-E709A1188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5602" y="4577797"/>
            <a:ext cx="344970" cy="340195"/>
          </a:xfrm>
          <a:prstGeom prst="rect">
            <a:avLst/>
          </a:prstGeom>
          <a:ln>
            <a:solidFill>
              <a:srgbClr val="FFC000"/>
            </a:solidFill>
          </a:ln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30FAA758-1F38-A589-A451-3BE28D70B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6669" y="5072763"/>
            <a:ext cx="344970" cy="340195"/>
          </a:xfrm>
          <a:prstGeom prst="rect">
            <a:avLst/>
          </a:prstGeom>
          <a:ln>
            <a:solidFill>
              <a:srgbClr val="FFC000"/>
            </a:solidFill>
          </a:ln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BEC216EC-3FD6-6678-3603-771D2B525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9767" y="5557068"/>
            <a:ext cx="344970" cy="340195"/>
          </a:xfrm>
          <a:prstGeom prst="rect">
            <a:avLst/>
          </a:prstGeom>
          <a:ln>
            <a:solidFill>
              <a:srgbClr val="FFC000"/>
            </a:solidFill>
          </a:ln>
        </p:spPr>
      </p:pic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FF549C4D-38E0-3264-8AB6-8215E5913B42}"/>
              </a:ext>
            </a:extLst>
          </p:cNvPr>
          <p:cNvSpPr/>
          <p:nvPr/>
        </p:nvSpPr>
        <p:spPr>
          <a:xfrm>
            <a:off x="3059850" y="4612734"/>
            <a:ext cx="6307885" cy="389299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727D2348-F931-B08B-49A9-9D65C6FAB566}"/>
              </a:ext>
            </a:extLst>
          </p:cNvPr>
          <p:cNvSpPr/>
          <p:nvPr/>
        </p:nvSpPr>
        <p:spPr>
          <a:xfrm>
            <a:off x="3033213" y="5058009"/>
            <a:ext cx="7842310" cy="389299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565687D8-183D-8650-F3CE-51681EA49E4E}"/>
              </a:ext>
            </a:extLst>
          </p:cNvPr>
          <p:cNvSpPr/>
          <p:nvPr/>
        </p:nvSpPr>
        <p:spPr>
          <a:xfrm>
            <a:off x="3033213" y="5543893"/>
            <a:ext cx="5925961" cy="389299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98B79B1A-131A-EA35-BAC9-03DA36DEB0CC}"/>
              </a:ext>
            </a:extLst>
          </p:cNvPr>
          <p:cNvSpPr/>
          <p:nvPr/>
        </p:nvSpPr>
        <p:spPr>
          <a:xfrm>
            <a:off x="3029161" y="6015538"/>
            <a:ext cx="8644030" cy="389299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F96F8CD-1073-7552-8048-6912F18AE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950" y="182253"/>
            <a:ext cx="10476689" cy="985899"/>
          </a:xfrm>
        </p:spPr>
        <p:txBody>
          <a:bodyPr>
            <a:noAutofit/>
          </a:bodyPr>
          <a:lstStyle/>
          <a:p>
            <a:pPr algn="ctr"/>
            <a:r>
              <a:rPr lang="pt-PT" sz="4000" b="1" dirty="0">
                <a:solidFill>
                  <a:schemeClr val="accent6"/>
                </a:solidFill>
              </a:rPr>
              <a:t>Objetivos</a:t>
            </a:r>
            <a:r>
              <a:rPr lang="pt-PT" sz="4000" dirty="0"/>
              <a:t> a cumprir para atingir o </a:t>
            </a:r>
            <a:r>
              <a:rPr lang="pt-PT" sz="4000" b="1" dirty="0">
                <a:solidFill>
                  <a:schemeClr val="accent6"/>
                </a:solidFill>
              </a:rPr>
              <a:t>Perfil de Saída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B45603E-86D7-71E0-C74A-61B21591DA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1157" y="2828574"/>
            <a:ext cx="344969" cy="3267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6088EC4D-693E-87DF-E952-1544BFF499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913" y="3255279"/>
            <a:ext cx="344969" cy="3267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855D57E4-356C-043C-6A07-908FED2D95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0944" y="4636581"/>
            <a:ext cx="344969" cy="326700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A3B6E436-9A47-9F58-D8A4-F978A17FC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0270" y="6016443"/>
            <a:ext cx="344969" cy="326700"/>
          </a:xfrm>
          <a:prstGeom prst="rect">
            <a:avLst/>
          </a:prstGeom>
        </p:spPr>
      </p:pic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B3FD2B07-24C3-DB8B-47D4-7BE5DF3111ED}"/>
              </a:ext>
            </a:extLst>
          </p:cNvPr>
          <p:cNvSpPr/>
          <p:nvPr/>
        </p:nvSpPr>
        <p:spPr>
          <a:xfrm>
            <a:off x="7609840" y="1410692"/>
            <a:ext cx="3150464" cy="1144301"/>
          </a:xfrm>
          <a:prstGeom prst="roundRect">
            <a:avLst/>
          </a:prstGeom>
          <a:solidFill>
            <a:schemeClr val="accent6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/>
              <a:t>Em 3D</a:t>
            </a:r>
          </a:p>
        </p:txBody>
      </p:sp>
      <p:sp>
        <p:nvSpPr>
          <p:cNvPr id="25" name="Seta: Para a Direita 24">
            <a:extLst>
              <a:ext uri="{FF2B5EF4-FFF2-40B4-BE49-F238E27FC236}">
                <a16:creationId xmlns:a16="http://schemas.microsoft.com/office/drawing/2014/main" id="{9896D821-2FBA-1131-C345-DBFF0549C6D0}"/>
              </a:ext>
            </a:extLst>
          </p:cNvPr>
          <p:cNvSpPr/>
          <p:nvPr/>
        </p:nvSpPr>
        <p:spPr>
          <a:xfrm rot="20583292">
            <a:off x="5276296" y="1958520"/>
            <a:ext cx="2177389" cy="751840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760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E2A71-C67D-EAA9-7121-63DA1E023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861BCDCF-C81E-5672-563D-9BDC13811611}"/>
              </a:ext>
            </a:extLst>
          </p:cNvPr>
          <p:cNvSpPr/>
          <p:nvPr/>
        </p:nvSpPr>
        <p:spPr>
          <a:xfrm>
            <a:off x="288759" y="1764203"/>
            <a:ext cx="11535526" cy="4915857"/>
          </a:xfrm>
          <a:prstGeom prst="round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C756F5E-C410-5B16-8565-1D527B828EF6}"/>
              </a:ext>
            </a:extLst>
          </p:cNvPr>
          <p:cNvSpPr txBox="1"/>
          <p:nvPr/>
        </p:nvSpPr>
        <p:spPr>
          <a:xfrm>
            <a:off x="398149" y="969074"/>
            <a:ext cx="953066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4000" b="1" dirty="0"/>
              <a:t>CAD mecânico: Válvula eletrónica </a:t>
            </a:r>
            <a:endParaRPr lang="en-GB" sz="4000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967FFA6C-6D91-1FFC-6C67-A6FFF7EFCB36}"/>
              </a:ext>
            </a:extLst>
          </p:cNvPr>
          <p:cNvSpPr/>
          <p:nvPr/>
        </p:nvSpPr>
        <p:spPr>
          <a:xfrm>
            <a:off x="749847" y="2444997"/>
            <a:ext cx="6460831" cy="4133850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F80B79F7-862B-D892-E9AA-0E834DA439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311" y="2555337"/>
            <a:ext cx="4184211" cy="3913169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1E67C6F8-8D67-ED20-2355-F202134A2DEC}"/>
              </a:ext>
            </a:extLst>
          </p:cNvPr>
          <p:cNvSpPr txBox="1"/>
          <p:nvPr/>
        </p:nvSpPr>
        <p:spPr>
          <a:xfrm>
            <a:off x="796374" y="1899753"/>
            <a:ext cx="105222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https://www.aignep.com/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CC5B97B-7B8A-5E9D-F86F-2A1626F29AFB}"/>
              </a:ext>
            </a:extLst>
          </p:cNvPr>
          <p:cNvSpPr txBox="1"/>
          <p:nvPr/>
        </p:nvSpPr>
        <p:spPr>
          <a:xfrm>
            <a:off x="398149" y="177940"/>
            <a:ext cx="89300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4000" b="1" dirty="0">
                <a:solidFill>
                  <a:schemeClr val="accent2"/>
                </a:solidFill>
              </a:rPr>
              <a:t>Assemblagem</a:t>
            </a:r>
            <a:endParaRPr lang="en-GB" sz="4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6278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E2A71-C67D-EAA9-7121-63DA1E023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861BCDCF-C81E-5672-563D-9BDC13811611}"/>
              </a:ext>
            </a:extLst>
          </p:cNvPr>
          <p:cNvSpPr/>
          <p:nvPr/>
        </p:nvSpPr>
        <p:spPr>
          <a:xfrm>
            <a:off x="288759" y="2055070"/>
            <a:ext cx="11535526" cy="4624990"/>
          </a:xfrm>
          <a:prstGeom prst="round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C756F5E-C410-5B16-8565-1D527B828EF6}"/>
              </a:ext>
            </a:extLst>
          </p:cNvPr>
          <p:cNvSpPr txBox="1"/>
          <p:nvPr/>
        </p:nvSpPr>
        <p:spPr>
          <a:xfrm>
            <a:off x="100597" y="1161781"/>
            <a:ext cx="116932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3200" b="1" dirty="0"/>
              <a:t>CAD mecânico: Válvula eletrónica </a:t>
            </a:r>
            <a:r>
              <a:rPr lang="en-GB" sz="3200" dirty="0"/>
              <a:t>- </a:t>
            </a:r>
            <a:r>
              <a:rPr lang="pt-PT" sz="3200" i="1" dirty="0"/>
              <a:t>Junção de Vários componentes</a:t>
            </a:r>
            <a:endParaRPr lang="en-GB" sz="3200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967FFA6C-6D91-1FFC-6C67-A6FFF7EFCB36}"/>
              </a:ext>
            </a:extLst>
          </p:cNvPr>
          <p:cNvSpPr/>
          <p:nvPr/>
        </p:nvSpPr>
        <p:spPr>
          <a:xfrm>
            <a:off x="514350" y="2247900"/>
            <a:ext cx="7594570" cy="4264499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72DC62A2-CE67-ECF1-1159-EB62D6481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700" y="2816243"/>
            <a:ext cx="2457450" cy="2667000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FFB270A9-7CD2-3312-6F03-70845270D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880" y="2496527"/>
            <a:ext cx="2895308" cy="3451207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16ED97EB-403B-5CC3-0950-7B4FD41C0E67}"/>
              </a:ext>
            </a:extLst>
          </p:cNvPr>
          <p:cNvSpPr txBox="1"/>
          <p:nvPr/>
        </p:nvSpPr>
        <p:spPr>
          <a:xfrm>
            <a:off x="398149" y="177940"/>
            <a:ext cx="89300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4000" b="1" dirty="0">
                <a:solidFill>
                  <a:schemeClr val="accent2"/>
                </a:solidFill>
              </a:rPr>
              <a:t>Assemblagem</a:t>
            </a:r>
            <a:endParaRPr lang="en-GB" sz="4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4419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E2A71-C67D-EAA9-7121-63DA1E023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861BCDCF-C81E-5672-563D-9BDC13811611}"/>
              </a:ext>
            </a:extLst>
          </p:cNvPr>
          <p:cNvSpPr/>
          <p:nvPr/>
        </p:nvSpPr>
        <p:spPr>
          <a:xfrm>
            <a:off x="288759" y="2266950"/>
            <a:ext cx="11535526" cy="4413110"/>
          </a:xfrm>
          <a:prstGeom prst="round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967FFA6C-6D91-1FFC-6C67-A6FFF7EFCB36}"/>
              </a:ext>
            </a:extLst>
          </p:cNvPr>
          <p:cNvSpPr/>
          <p:nvPr/>
        </p:nvSpPr>
        <p:spPr>
          <a:xfrm>
            <a:off x="514350" y="2466975"/>
            <a:ext cx="7594570" cy="4045424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A539DD14-76E5-D778-EC6F-A4C0ECF24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865" y="2650684"/>
            <a:ext cx="3321036" cy="3267075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A5E910CB-F3F1-4F8A-18A2-EA9F5E7E5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8960" y="2816243"/>
            <a:ext cx="2247900" cy="2771775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3C85D9CA-E3E0-EB7D-5771-87EAD63A6ECD}"/>
              </a:ext>
            </a:extLst>
          </p:cNvPr>
          <p:cNvSpPr txBox="1"/>
          <p:nvPr/>
        </p:nvSpPr>
        <p:spPr>
          <a:xfrm>
            <a:off x="154982" y="1331737"/>
            <a:ext cx="116932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3200" b="1" dirty="0"/>
              <a:t>CAD mecânico: Válvula eletrónica </a:t>
            </a:r>
            <a:r>
              <a:rPr lang="en-GB" sz="3200" dirty="0"/>
              <a:t>- </a:t>
            </a:r>
            <a:r>
              <a:rPr lang="pt-PT" sz="3200" i="1" dirty="0"/>
              <a:t>Junção de Vários componentes</a:t>
            </a:r>
            <a:endParaRPr lang="en-GB" sz="32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F891474-0B42-8482-814D-8D595E346E3B}"/>
              </a:ext>
            </a:extLst>
          </p:cNvPr>
          <p:cNvSpPr txBox="1"/>
          <p:nvPr/>
        </p:nvSpPr>
        <p:spPr>
          <a:xfrm>
            <a:off x="398149" y="177940"/>
            <a:ext cx="89300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4000" b="1" dirty="0">
                <a:solidFill>
                  <a:schemeClr val="accent2"/>
                </a:solidFill>
              </a:rPr>
              <a:t>Assemblagem</a:t>
            </a:r>
            <a:endParaRPr lang="en-GB" sz="4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948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E2A71-C67D-EAA9-7121-63DA1E023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861BCDCF-C81E-5672-563D-9BDC13811611}"/>
              </a:ext>
            </a:extLst>
          </p:cNvPr>
          <p:cNvSpPr/>
          <p:nvPr/>
        </p:nvSpPr>
        <p:spPr>
          <a:xfrm>
            <a:off x="288759" y="2266950"/>
            <a:ext cx="11535526" cy="4413110"/>
          </a:xfrm>
          <a:prstGeom prst="round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967FFA6C-6D91-1FFC-6C67-A6FFF7EFCB36}"/>
              </a:ext>
            </a:extLst>
          </p:cNvPr>
          <p:cNvSpPr/>
          <p:nvPr/>
        </p:nvSpPr>
        <p:spPr>
          <a:xfrm>
            <a:off x="514350" y="2466975"/>
            <a:ext cx="7594570" cy="4045424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C85D9CA-E3E0-EB7D-5771-87EAD63A6ECD}"/>
              </a:ext>
            </a:extLst>
          </p:cNvPr>
          <p:cNvSpPr txBox="1"/>
          <p:nvPr/>
        </p:nvSpPr>
        <p:spPr>
          <a:xfrm>
            <a:off x="154982" y="1331737"/>
            <a:ext cx="116932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3200" b="1" dirty="0"/>
              <a:t>CAD mecânico: Válvula eletrónica </a:t>
            </a:r>
            <a:r>
              <a:rPr lang="en-GB" sz="3200" dirty="0"/>
              <a:t>- </a:t>
            </a:r>
            <a:r>
              <a:rPr lang="pt-PT" sz="3200" i="1" dirty="0"/>
              <a:t>Miscellaneous</a:t>
            </a:r>
            <a:endParaRPr lang="en-GB" sz="32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F532E5F-45D5-3D6E-7EE5-7B961492C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038" y="2953781"/>
            <a:ext cx="2210808" cy="3071812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9FD2B55B-AB79-EC28-1C03-4ECC27916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4952" y="2661275"/>
            <a:ext cx="3224213" cy="3624460"/>
          </a:xfrm>
          <a:prstGeom prst="rect">
            <a:avLst/>
          </a:prstGeom>
        </p:spPr>
      </p:pic>
      <p:sp>
        <p:nvSpPr>
          <p:cNvPr id="18" name="Seta: Para a Direita 17">
            <a:extLst>
              <a:ext uri="{FF2B5EF4-FFF2-40B4-BE49-F238E27FC236}">
                <a16:creationId xmlns:a16="http://schemas.microsoft.com/office/drawing/2014/main" id="{9ABA6756-E01E-2A48-228E-E4C741A2374F}"/>
              </a:ext>
            </a:extLst>
          </p:cNvPr>
          <p:cNvSpPr/>
          <p:nvPr/>
        </p:nvSpPr>
        <p:spPr>
          <a:xfrm>
            <a:off x="3464683" y="5233954"/>
            <a:ext cx="850142" cy="1005919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40A8F53-AF18-03E4-063D-5A71556AFE79}"/>
              </a:ext>
            </a:extLst>
          </p:cNvPr>
          <p:cNvSpPr txBox="1"/>
          <p:nvPr/>
        </p:nvSpPr>
        <p:spPr>
          <a:xfrm>
            <a:off x="398149" y="177940"/>
            <a:ext cx="89300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4000" b="1" dirty="0">
                <a:solidFill>
                  <a:schemeClr val="accent2"/>
                </a:solidFill>
              </a:rPr>
              <a:t>Assemblagem</a:t>
            </a:r>
            <a:endParaRPr lang="en-GB" sz="4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76896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E2A71-C67D-EAA9-7121-63DA1E023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861BCDCF-C81E-5672-563D-9BDC13811611}"/>
              </a:ext>
            </a:extLst>
          </p:cNvPr>
          <p:cNvSpPr/>
          <p:nvPr/>
        </p:nvSpPr>
        <p:spPr>
          <a:xfrm>
            <a:off x="288759" y="2266950"/>
            <a:ext cx="11535526" cy="4413110"/>
          </a:xfrm>
          <a:prstGeom prst="round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967FFA6C-6D91-1FFC-6C67-A6FFF7EFCB36}"/>
              </a:ext>
            </a:extLst>
          </p:cNvPr>
          <p:cNvSpPr/>
          <p:nvPr/>
        </p:nvSpPr>
        <p:spPr>
          <a:xfrm>
            <a:off x="514350" y="2466975"/>
            <a:ext cx="7594570" cy="4045424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C85D9CA-E3E0-EB7D-5771-87EAD63A6ECD}"/>
              </a:ext>
            </a:extLst>
          </p:cNvPr>
          <p:cNvSpPr txBox="1"/>
          <p:nvPr/>
        </p:nvSpPr>
        <p:spPr>
          <a:xfrm>
            <a:off x="154982" y="1331737"/>
            <a:ext cx="116932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3200" b="1" dirty="0"/>
              <a:t>CAD mecânico: Válvula eletrónica </a:t>
            </a:r>
            <a:r>
              <a:rPr lang="en-GB" sz="3200" dirty="0"/>
              <a:t>- </a:t>
            </a:r>
            <a:r>
              <a:rPr lang="pt-PT" sz="3200" i="1" dirty="0"/>
              <a:t>Miscellaneous</a:t>
            </a:r>
            <a:endParaRPr lang="en-GB" sz="3200" dirty="0"/>
          </a:p>
        </p:txBody>
      </p:sp>
      <p:sp>
        <p:nvSpPr>
          <p:cNvPr id="18" name="Seta: Para a Direita 17">
            <a:extLst>
              <a:ext uri="{FF2B5EF4-FFF2-40B4-BE49-F238E27FC236}">
                <a16:creationId xmlns:a16="http://schemas.microsoft.com/office/drawing/2014/main" id="{9ABA6756-E01E-2A48-228E-E4C741A2374F}"/>
              </a:ext>
            </a:extLst>
          </p:cNvPr>
          <p:cNvSpPr/>
          <p:nvPr/>
        </p:nvSpPr>
        <p:spPr>
          <a:xfrm>
            <a:off x="3305626" y="3926184"/>
            <a:ext cx="850142" cy="1005919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86939902-FB1C-1E50-FB13-EB4FCD8F7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915" y="2980506"/>
            <a:ext cx="2252663" cy="1891357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D317CFA6-D3D3-DF23-885F-AB218BAC2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7418" y="2899664"/>
            <a:ext cx="3725834" cy="2135652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3BBE410E-2390-E0E0-EFB5-DED6E4C4739C}"/>
              </a:ext>
            </a:extLst>
          </p:cNvPr>
          <p:cNvSpPr txBox="1"/>
          <p:nvPr/>
        </p:nvSpPr>
        <p:spPr>
          <a:xfrm>
            <a:off x="847914" y="5411675"/>
            <a:ext cx="58005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3200" dirty="0"/>
              <a:t>Não esquecer pontos de fixação.</a:t>
            </a:r>
            <a:endParaRPr lang="en-GB" sz="32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7AE15FA-0C48-F0B4-BAB2-E063D9097CE0}"/>
              </a:ext>
            </a:extLst>
          </p:cNvPr>
          <p:cNvSpPr txBox="1"/>
          <p:nvPr/>
        </p:nvSpPr>
        <p:spPr>
          <a:xfrm>
            <a:off x="398149" y="177940"/>
            <a:ext cx="89300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4000" b="1" dirty="0">
                <a:solidFill>
                  <a:srgbClr val="FF0000"/>
                </a:solidFill>
              </a:rPr>
              <a:t>Assemblagem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37866917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E2A71-C67D-EAA9-7121-63DA1E023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861BCDCF-C81E-5672-563D-9BDC13811611}"/>
              </a:ext>
            </a:extLst>
          </p:cNvPr>
          <p:cNvSpPr/>
          <p:nvPr/>
        </p:nvSpPr>
        <p:spPr>
          <a:xfrm>
            <a:off x="288759" y="2266950"/>
            <a:ext cx="11535526" cy="4413110"/>
          </a:xfrm>
          <a:prstGeom prst="round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967FFA6C-6D91-1FFC-6C67-A6FFF7EFCB36}"/>
              </a:ext>
            </a:extLst>
          </p:cNvPr>
          <p:cNvSpPr/>
          <p:nvPr/>
        </p:nvSpPr>
        <p:spPr>
          <a:xfrm>
            <a:off x="514350" y="2466975"/>
            <a:ext cx="7594570" cy="4045424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C85D9CA-E3E0-EB7D-5771-87EAD63A6ECD}"/>
              </a:ext>
            </a:extLst>
          </p:cNvPr>
          <p:cNvSpPr txBox="1"/>
          <p:nvPr/>
        </p:nvSpPr>
        <p:spPr>
          <a:xfrm>
            <a:off x="154982" y="1331737"/>
            <a:ext cx="116932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3200" b="1" dirty="0"/>
              <a:t>CAD mecânico: Válvula eletrónica </a:t>
            </a:r>
            <a:r>
              <a:rPr lang="en-GB" sz="3200" dirty="0"/>
              <a:t>– </a:t>
            </a:r>
            <a:r>
              <a:rPr lang="pt-PT" sz="3200" i="1" dirty="0"/>
              <a:t>Miscellaneous</a:t>
            </a:r>
            <a:endParaRPr lang="en-GB" sz="3200" dirty="0"/>
          </a:p>
        </p:txBody>
      </p:sp>
      <p:sp>
        <p:nvSpPr>
          <p:cNvPr id="18" name="Seta: Para a Direita 17">
            <a:extLst>
              <a:ext uri="{FF2B5EF4-FFF2-40B4-BE49-F238E27FC236}">
                <a16:creationId xmlns:a16="http://schemas.microsoft.com/office/drawing/2014/main" id="{9ABA6756-E01E-2A48-228E-E4C741A2374F}"/>
              </a:ext>
            </a:extLst>
          </p:cNvPr>
          <p:cNvSpPr/>
          <p:nvPr/>
        </p:nvSpPr>
        <p:spPr>
          <a:xfrm rot="5400000">
            <a:off x="490898" y="4350634"/>
            <a:ext cx="1416734" cy="584775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86939902-FB1C-1E50-FB13-EB4FCD8F7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536" y="2955533"/>
            <a:ext cx="1009460" cy="847552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D317CFA6-D3D3-DF23-885F-AB218BAC2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096" y="5464911"/>
            <a:ext cx="1294803" cy="742182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3BBE410E-2390-E0E0-EFB5-DED6E4C4739C}"/>
              </a:ext>
            </a:extLst>
          </p:cNvPr>
          <p:cNvSpPr txBox="1"/>
          <p:nvPr/>
        </p:nvSpPr>
        <p:spPr>
          <a:xfrm>
            <a:off x="1790442" y="2751858"/>
            <a:ext cx="66544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3200" dirty="0"/>
              <a:t>Aplicar Miscellaneous </a:t>
            </a:r>
            <a:r>
              <a:rPr lang="pt-PT" sz="3200" b="1" u="sng" dirty="0"/>
              <a:t>normalizados.</a:t>
            </a:r>
            <a:endParaRPr lang="en-GB" sz="3200" b="1" u="sng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B628C07-008C-35A2-5EAF-D2DFEA11AE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7631" y="3520598"/>
            <a:ext cx="4860114" cy="2686495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788BFFF8-9C0C-65C0-2AF9-C88F308E682D}"/>
              </a:ext>
            </a:extLst>
          </p:cNvPr>
          <p:cNvSpPr txBox="1"/>
          <p:nvPr/>
        </p:nvSpPr>
        <p:spPr>
          <a:xfrm>
            <a:off x="398149" y="177940"/>
            <a:ext cx="89300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4000" b="1" dirty="0">
                <a:solidFill>
                  <a:schemeClr val="accent2"/>
                </a:solidFill>
              </a:rPr>
              <a:t>Assemblagem</a:t>
            </a:r>
            <a:endParaRPr lang="en-GB" sz="4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77071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78B7077E-E02F-91C4-4A68-758BD083C252}"/>
              </a:ext>
            </a:extLst>
          </p:cNvPr>
          <p:cNvSpPr txBox="1">
            <a:spLocks/>
          </p:cNvSpPr>
          <p:nvPr/>
        </p:nvSpPr>
        <p:spPr>
          <a:xfrm>
            <a:off x="400455" y="126892"/>
            <a:ext cx="11525656" cy="61669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3600" b="1" dirty="0">
                <a:solidFill>
                  <a:schemeClr val="accent2"/>
                </a:solidFill>
              </a:rPr>
              <a:t>Exercício</a:t>
            </a:r>
            <a:r>
              <a:rPr lang="pt-PT" sz="3600" b="1" dirty="0"/>
              <a:t>:</a:t>
            </a:r>
          </a:p>
          <a:p>
            <a:pPr>
              <a:lnSpc>
                <a:spcPct val="150000"/>
              </a:lnSpc>
            </a:pPr>
            <a:r>
              <a:rPr lang="pt-PT" sz="3600" dirty="0"/>
              <a:t>5.1. Vai ao Website </a:t>
            </a:r>
            <a:r>
              <a:rPr lang="pt-PT" sz="3600" dirty="0">
                <a:hlinkClick r:id="rId2"/>
              </a:rPr>
              <a:t>https://www.aignep.com/</a:t>
            </a:r>
            <a:r>
              <a:rPr lang="pt-PT" sz="3600" dirty="0"/>
              <a:t>.</a:t>
            </a:r>
          </a:p>
          <a:p>
            <a:pPr>
              <a:lnSpc>
                <a:spcPct val="150000"/>
              </a:lnSpc>
            </a:pPr>
            <a:r>
              <a:rPr lang="pt-PT" sz="3600" dirty="0"/>
              <a:t>Faz o download de: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3600" dirty="0"/>
              <a:t>Uma válvula;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3600" dirty="0"/>
              <a:t>Uma bobine;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3600" dirty="0"/>
              <a:t>Uma proteção de cabo;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3600" dirty="0"/>
              <a:t>Conectores rápidos;</a:t>
            </a:r>
          </a:p>
          <a:p>
            <a:pPr>
              <a:lnSpc>
                <a:spcPct val="150000"/>
              </a:lnSpc>
            </a:pPr>
            <a:r>
              <a:rPr lang="pt-PT" sz="3600" b="1" u="sng" dirty="0"/>
              <a:t> e faz a assemblagem. 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D273F00-3840-A73E-6D81-7AFE4316F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814" y="2603749"/>
            <a:ext cx="5708510" cy="3329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3814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90B803E-F3E2-DF21-52F0-CAE1B466971F}"/>
              </a:ext>
            </a:extLst>
          </p:cNvPr>
          <p:cNvSpPr/>
          <p:nvPr/>
        </p:nvSpPr>
        <p:spPr>
          <a:xfrm>
            <a:off x="262648" y="1254868"/>
            <a:ext cx="11659296" cy="5028237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CC95D7A8-8994-F538-BA08-7B64B3D4825F}"/>
              </a:ext>
            </a:extLst>
          </p:cNvPr>
          <p:cNvSpPr txBox="1">
            <a:spLocks/>
          </p:cNvSpPr>
          <p:nvPr/>
        </p:nvSpPr>
        <p:spPr>
          <a:xfrm>
            <a:off x="460953" y="170746"/>
            <a:ext cx="11270093" cy="9479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4000" dirty="0"/>
              <a:t>Que novos tópicos e conceitos aprendeu? </a:t>
            </a:r>
            <a:endParaRPr lang="en-GB" sz="4000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2575CD89-8A6C-90AE-0881-8F8AC9398BF6}"/>
              </a:ext>
            </a:extLst>
          </p:cNvPr>
          <p:cNvSpPr txBox="1">
            <a:spLocks/>
          </p:cNvSpPr>
          <p:nvPr/>
        </p:nvSpPr>
        <p:spPr>
          <a:xfrm>
            <a:off x="1128919" y="1480737"/>
            <a:ext cx="10174621" cy="9479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4000" dirty="0"/>
              <a:t>…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41609125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78B7077E-E02F-91C4-4A68-758BD083C252}"/>
              </a:ext>
            </a:extLst>
          </p:cNvPr>
          <p:cNvSpPr txBox="1">
            <a:spLocks/>
          </p:cNvSpPr>
          <p:nvPr/>
        </p:nvSpPr>
        <p:spPr>
          <a:xfrm>
            <a:off x="400455" y="126892"/>
            <a:ext cx="11525656" cy="20521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PT" sz="3600" b="1" dirty="0">
                <a:solidFill>
                  <a:schemeClr val="accent2"/>
                </a:solidFill>
              </a:rPr>
              <a:t>Exercício</a:t>
            </a:r>
            <a:r>
              <a:rPr lang="pt-PT" sz="3600" b="1" dirty="0"/>
              <a:t>:</a:t>
            </a:r>
          </a:p>
          <a:p>
            <a:pPr algn="ctr">
              <a:lnSpc>
                <a:spcPct val="150000"/>
              </a:lnSpc>
            </a:pPr>
            <a:r>
              <a:rPr lang="pt-PT" sz="3600" dirty="0"/>
              <a:t>5.2.  Fazer a BOM – Bill of Materials.</a:t>
            </a:r>
            <a:endParaRPr lang="pt-PT" sz="3600" b="1" u="sng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D273F00-3840-A73E-6D81-7AFE4316F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745" y="2662115"/>
            <a:ext cx="5708510" cy="3329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9739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90B803E-F3E2-DF21-52F0-CAE1B466971F}"/>
              </a:ext>
            </a:extLst>
          </p:cNvPr>
          <p:cNvSpPr/>
          <p:nvPr/>
        </p:nvSpPr>
        <p:spPr>
          <a:xfrm>
            <a:off x="262648" y="1254868"/>
            <a:ext cx="11659296" cy="5028237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CC95D7A8-8994-F538-BA08-7B64B3D4825F}"/>
              </a:ext>
            </a:extLst>
          </p:cNvPr>
          <p:cNvSpPr txBox="1">
            <a:spLocks/>
          </p:cNvSpPr>
          <p:nvPr/>
        </p:nvSpPr>
        <p:spPr>
          <a:xfrm>
            <a:off x="460953" y="170746"/>
            <a:ext cx="11270093" cy="9479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4000" dirty="0"/>
              <a:t>Que novos tópicos e conceitos aprendeu? </a:t>
            </a:r>
            <a:endParaRPr lang="en-GB" sz="4000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2575CD89-8A6C-90AE-0881-8F8AC9398BF6}"/>
              </a:ext>
            </a:extLst>
          </p:cNvPr>
          <p:cNvSpPr txBox="1">
            <a:spLocks/>
          </p:cNvSpPr>
          <p:nvPr/>
        </p:nvSpPr>
        <p:spPr>
          <a:xfrm>
            <a:off x="1128919" y="1480737"/>
            <a:ext cx="10174621" cy="9479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4000" dirty="0"/>
              <a:t>…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33412765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F9D307B8-C5BD-A49F-68E8-737150A0A450}"/>
              </a:ext>
            </a:extLst>
          </p:cNvPr>
          <p:cNvSpPr txBox="1">
            <a:spLocks/>
          </p:cNvSpPr>
          <p:nvPr/>
        </p:nvSpPr>
        <p:spPr>
          <a:xfrm>
            <a:off x="1564351" y="226337"/>
            <a:ext cx="9063293" cy="26904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4800" b="1" dirty="0">
                <a:solidFill>
                  <a:schemeClr val="accent2"/>
                </a:solidFill>
              </a:rPr>
              <a:t>Exercício</a:t>
            </a:r>
            <a:r>
              <a:rPr lang="pt-PT" sz="4800" b="1" dirty="0"/>
              <a:t>:</a:t>
            </a:r>
          </a:p>
          <a:p>
            <a:r>
              <a:rPr lang="pt-PT" sz="4000" dirty="0"/>
              <a:t>9.2. Desenha o painel colocando as letras tal como no desenho.</a:t>
            </a:r>
            <a:endParaRPr lang="en-GB" sz="40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D1B7323-FBD3-2A8C-9818-6A930E029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7395" y="2916780"/>
            <a:ext cx="2833647" cy="3318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0146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90B803E-F3E2-DF21-52F0-CAE1B466971F}"/>
              </a:ext>
            </a:extLst>
          </p:cNvPr>
          <p:cNvSpPr/>
          <p:nvPr/>
        </p:nvSpPr>
        <p:spPr>
          <a:xfrm>
            <a:off x="262648" y="1254868"/>
            <a:ext cx="11659296" cy="5028237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CC95D7A8-8994-F538-BA08-7B64B3D4825F}"/>
              </a:ext>
            </a:extLst>
          </p:cNvPr>
          <p:cNvSpPr txBox="1">
            <a:spLocks/>
          </p:cNvSpPr>
          <p:nvPr/>
        </p:nvSpPr>
        <p:spPr>
          <a:xfrm>
            <a:off x="460953" y="170746"/>
            <a:ext cx="11270093" cy="9479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4000" dirty="0"/>
              <a:t>Que novos tópicos e conceitos aprendeu? </a:t>
            </a:r>
            <a:endParaRPr lang="en-GB" sz="4000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2575CD89-8A6C-90AE-0881-8F8AC9398BF6}"/>
              </a:ext>
            </a:extLst>
          </p:cNvPr>
          <p:cNvSpPr txBox="1">
            <a:spLocks/>
          </p:cNvSpPr>
          <p:nvPr/>
        </p:nvSpPr>
        <p:spPr>
          <a:xfrm>
            <a:off x="1128919" y="1480737"/>
            <a:ext cx="10174621" cy="9479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4000" dirty="0"/>
              <a:t>…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7022278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F9D307B8-C5BD-A49F-68E8-737150A0A450}"/>
              </a:ext>
            </a:extLst>
          </p:cNvPr>
          <p:cNvSpPr txBox="1">
            <a:spLocks/>
          </p:cNvSpPr>
          <p:nvPr/>
        </p:nvSpPr>
        <p:spPr>
          <a:xfrm>
            <a:off x="1235243" y="226337"/>
            <a:ext cx="9392402" cy="16666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4800" b="1" dirty="0">
                <a:solidFill>
                  <a:schemeClr val="accent2"/>
                </a:solidFill>
              </a:rPr>
              <a:t>Exercício</a:t>
            </a:r>
            <a:r>
              <a:rPr lang="pt-PT" sz="4800" b="1" dirty="0"/>
              <a:t>:</a:t>
            </a:r>
          </a:p>
          <a:p>
            <a:r>
              <a:rPr lang="pt-PT" sz="4000" dirty="0"/>
              <a:t>9.3. Desenha a placa de identificação em CAD 3D.</a:t>
            </a:r>
            <a:endParaRPr lang="en-GB" sz="4000" dirty="0"/>
          </a:p>
        </p:txBody>
      </p:sp>
      <p:pic>
        <p:nvPicPr>
          <p:cNvPr id="5" name="Imagem 4" descr="Uma imagem com texto, captura de ecrã, ecrã, número&#10;&#10;Descrição gerada automaticamente">
            <a:extLst>
              <a:ext uri="{FF2B5EF4-FFF2-40B4-BE49-F238E27FC236}">
                <a16:creationId xmlns:a16="http://schemas.microsoft.com/office/drawing/2014/main" id="{9FF76DC2-8C1E-514E-4EBD-C6C93E8319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681" y="1880633"/>
            <a:ext cx="6624638" cy="4977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4414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90B803E-F3E2-DF21-52F0-CAE1B466971F}"/>
              </a:ext>
            </a:extLst>
          </p:cNvPr>
          <p:cNvSpPr/>
          <p:nvPr/>
        </p:nvSpPr>
        <p:spPr>
          <a:xfrm>
            <a:off x="262648" y="1254868"/>
            <a:ext cx="11659296" cy="5028237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CC95D7A8-8994-F538-BA08-7B64B3D4825F}"/>
              </a:ext>
            </a:extLst>
          </p:cNvPr>
          <p:cNvSpPr txBox="1">
            <a:spLocks/>
          </p:cNvSpPr>
          <p:nvPr/>
        </p:nvSpPr>
        <p:spPr>
          <a:xfrm>
            <a:off x="460953" y="170746"/>
            <a:ext cx="11270093" cy="9479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4000" dirty="0"/>
              <a:t>Que novos tópicos e conceitos aprendeu? </a:t>
            </a:r>
            <a:endParaRPr lang="en-GB" sz="4000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2575CD89-8A6C-90AE-0881-8F8AC9398BF6}"/>
              </a:ext>
            </a:extLst>
          </p:cNvPr>
          <p:cNvSpPr txBox="1">
            <a:spLocks/>
          </p:cNvSpPr>
          <p:nvPr/>
        </p:nvSpPr>
        <p:spPr>
          <a:xfrm>
            <a:off x="1128919" y="1480737"/>
            <a:ext cx="10174621" cy="9479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4000" dirty="0"/>
              <a:t>…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4984503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78B7077E-E02F-91C4-4A68-758BD083C252}"/>
              </a:ext>
            </a:extLst>
          </p:cNvPr>
          <p:cNvSpPr txBox="1">
            <a:spLocks/>
          </p:cNvSpPr>
          <p:nvPr/>
        </p:nvSpPr>
        <p:spPr>
          <a:xfrm>
            <a:off x="413424" y="214010"/>
            <a:ext cx="6479948" cy="36770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3200" b="1" dirty="0">
                <a:solidFill>
                  <a:schemeClr val="accent2"/>
                </a:solidFill>
              </a:rPr>
              <a:t>Exercício</a:t>
            </a:r>
            <a:r>
              <a:rPr lang="pt-PT" sz="3200" b="1" dirty="0"/>
              <a:t>:</a:t>
            </a:r>
          </a:p>
          <a:p>
            <a:pPr>
              <a:lnSpc>
                <a:spcPct val="150000"/>
              </a:lnSpc>
            </a:pPr>
            <a:r>
              <a:rPr lang="pt-PT" sz="3200" b="1" dirty="0"/>
              <a:t>10</a:t>
            </a:r>
            <a:r>
              <a:rPr lang="pt-PT" sz="3200" dirty="0"/>
              <a:t>. Desenha uma caixa parecida com a que está ao lado.</a:t>
            </a:r>
          </a:p>
          <a:p>
            <a:pPr>
              <a:lnSpc>
                <a:spcPct val="150000"/>
              </a:lnSpc>
            </a:pPr>
            <a:r>
              <a:rPr lang="pt-PT" sz="3200" b="1" u="sng" dirty="0"/>
              <a:t>Recomendação</a:t>
            </a:r>
            <a:r>
              <a:rPr lang="pt-PT" sz="3200" dirty="0"/>
              <a:t>: usar ficheiro de “</a:t>
            </a:r>
            <a:r>
              <a:rPr lang="pt-PT" sz="3200" dirty="0" err="1"/>
              <a:t>sheet</a:t>
            </a:r>
            <a:r>
              <a:rPr lang="pt-PT" sz="3200" dirty="0"/>
              <a:t> metal”.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8C368D7-315A-F18C-99EE-79400AFE4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2182" y="0"/>
            <a:ext cx="47798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2374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90B803E-F3E2-DF21-52F0-CAE1B466971F}"/>
              </a:ext>
            </a:extLst>
          </p:cNvPr>
          <p:cNvSpPr/>
          <p:nvPr/>
        </p:nvSpPr>
        <p:spPr>
          <a:xfrm>
            <a:off x="262648" y="1254868"/>
            <a:ext cx="11659296" cy="5028237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CC95D7A8-8994-F538-BA08-7B64B3D4825F}"/>
              </a:ext>
            </a:extLst>
          </p:cNvPr>
          <p:cNvSpPr txBox="1">
            <a:spLocks/>
          </p:cNvSpPr>
          <p:nvPr/>
        </p:nvSpPr>
        <p:spPr>
          <a:xfrm>
            <a:off x="460953" y="170746"/>
            <a:ext cx="11270093" cy="9479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4000" dirty="0"/>
              <a:t>Que novos tópicos e conceitos aprendeu? </a:t>
            </a:r>
            <a:endParaRPr lang="en-GB" sz="4000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2575CD89-8A6C-90AE-0881-8F8AC9398BF6}"/>
              </a:ext>
            </a:extLst>
          </p:cNvPr>
          <p:cNvSpPr txBox="1">
            <a:spLocks/>
          </p:cNvSpPr>
          <p:nvPr/>
        </p:nvSpPr>
        <p:spPr>
          <a:xfrm>
            <a:off x="1128919" y="1480737"/>
            <a:ext cx="10174621" cy="9479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4000" dirty="0"/>
              <a:t>…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34485764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F9D307B8-C5BD-A49F-68E8-737150A0A450}"/>
              </a:ext>
            </a:extLst>
          </p:cNvPr>
          <p:cNvSpPr txBox="1">
            <a:spLocks/>
          </p:cNvSpPr>
          <p:nvPr/>
        </p:nvSpPr>
        <p:spPr>
          <a:xfrm>
            <a:off x="1564351" y="226337"/>
            <a:ext cx="9063293" cy="26904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4800" b="1" dirty="0">
                <a:solidFill>
                  <a:schemeClr val="accent2"/>
                </a:solidFill>
              </a:rPr>
              <a:t>Exercício</a:t>
            </a:r>
            <a:r>
              <a:rPr lang="pt-PT" sz="4800" b="1" dirty="0"/>
              <a:t>:</a:t>
            </a:r>
          </a:p>
          <a:p>
            <a:r>
              <a:rPr lang="pt-PT" sz="4000" dirty="0"/>
              <a:t>11. Desenha a serpentina em CAD 3D.</a:t>
            </a:r>
            <a:endParaRPr lang="en-GB" sz="40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4B58D33-68E7-4FAE-8BE1-014B262EF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7284" y="2667000"/>
            <a:ext cx="2257425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7400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90B803E-F3E2-DF21-52F0-CAE1B466971F}"/>
              </a:ext>
            </a:extLst>
          </p:cNvPr>
          <p:cNvSpPr/>
          <p:nvPr/>
        </p:nvSpPr>
        <p:spPr>
          <a:xfrm>
            <a:off x="262648" y="1254868"/>
            <a:ext cx="11659296" cy="5028237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CC95D7A8-8994-F538-BA08-7B64B3D4825F}"/>
              </a:ext>
            </a:extLst>
          </p:cNvPr>
          <p:cNvSpPr txBox="1">
            <a:spLocks/>
          </p:cNvSpPr>
          <p:nvPr/>
        </p:nvSpPr>
        <p:spPr>
          <a:xfrm>
            <a:off x="460953" y="170746"/>
            <a:ext cx="11270093" cy="9479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4000" dirty="0"/>
              <a:t>Que novos tópicos e conceitos aprendeu? </a:t>
            </a:r>
            <a:endParaRPr lang="en-GB" sz="4000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2575CD89-8A6C-90AE-0881-8F8AC9398BF6}"/>
              </a:ext>
            </a:extLst>
          </p:cNvPr>
          <p:cNvSpPr txBox="1">
            <a:spLocks/>
          </p:cNvSpPr>
          <p:nvPr/>
        </p:nvSpPr>
        <p:spPr>
          <a:xfrm>
            <a:off x="1128919" y="1480737"/>
            <a:ext cx="10174621" cy="9479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4000" dirty="0"/>
              <a:t>…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9752872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F9D307B8-C5BD-A49F-68E8-737150A0A450}"/>
              </a:ext>
            </a:extLst>
          </p:cNvPr>
          <p:cNvSpPr txBox="1">
            <a:spLocks/>
          </p:cNvSpPr>
          <p:nvPr/>
        </p:nvSpPr>
        <p:spPr>
          <a:xfrm>
            <a:off x="1235243" y="226337"/>
            <a:ext cx="9392402" cy="26904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4800" b="1" dirty="0">
                <a:solidFill>
                  <a:schemeClr val="accent2"/>
                </a:solidFill>
              </a:rPr>
              <a:t>Exercício</a:t>
            </a:r>
            <a:r>
              <a:rPr lang="pt-PT" sz="4800" b="1" dirty="0"/>
              <a:t>:</a:t>
            </a:r>
          </a:p>
          <a:p>
            <a:r>
              <a:rPr lang="pt-PT" sz="4000" dirty="0"/>
              <a:t>12. Desenha o integrado eletrónico em CAD 3D.</a:t>
            </a:r>
            <a:endParaRPr lang="en-GB" sz="40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01D3BA0-F1E4-EE15-21C8-9C439726B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806" y="2384078"/>
            <a:ext cx="2552381" cy="31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6102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90B803E-F3E2-DF21-52F0-CAE1B466971F}"/>
              </a:ext>
            </a:extLst>
          </p:cNvPr>
          <p:cNvSpPr/>
          <p:nvPr/>
        </p:nvSpPr>
        <p:spPr>
          <a:xfrm>
            <a:off x="262648" y="1254868"/>
            <a:ext cx="11659296" cy="5028237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CC95D7A8-8994-F538-BA08-7B64B3D4825F}"/>
              </a:ext>
            </a:extLst>
          </p:cNvPr>
          <p:cNvSpPr txBox="1">
            <a:spLocks/>
          </p:cNvSpPr>
          <p:nvPr/>
        </p:nvSpPr>
        <p:spPr>
          <a:xfrm>
            <a:off x="460953" y="170746"/>
            <a:ext cx="11270093" cy="9479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4000" dirty="0"/>
              <a:t>Que novos tópicos e conceitos aprendeu? </a:t>
            </a:r>
            <a:endParaRPr lang="en-GB" sz="4000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2575CD89-8A6C-90AE-0881-8F8AC9398BF6}"/>
              </a:ext>
            </a:extLst>
          </p:cNvPr>
          <p:cNvSpPr txBox="1">
            <a:spLocks/>
          </p:cNvSpPr>
          <p:nvPr/>
        </p:nvSpPr>
        <p:spPr>
          <a:xfrm>
            <a:off x="1128919" y="1480737"/>
            <a:ext cx="10174621" cy="9479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4000" dirty="0"/>
              <a:t>…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30467169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F9D307B8-C5BD-A49F-68E8-737150A0A450}"/>
              </a:ext>
            </a:extLst>
          </p:cNvPr>
          <p:cNvSpPr txBox="1">
            <a:spLocks/>
          </p:cNvSpPr>
          <p:nvPr/>
        </p:nvSpPr>
        <p:spPr>
          <a:xfrm>
            <a:off x="243021" y="204281"/>
            <a:ext cx="6079958" cy="6439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4800" b="1" dirty="0">
                <a:solidFill>
                  <a:schemeClr val="accent2"/>
                </a:solidFill>
              </a:rPr>
              <a:t>Exercício</a:t>
            </a:r>
            <a:r>
              <a:rPr lang="pt-PT" sz="4800" b="1" dirty="0"/>
              <a:t>:</a:t>
            </a:r>
          </a:p>
          <a:p>
            <a:r>
              <a:rPr lang="pt-PT" sz="4000" dirty="0"/>
              <a:t>13. Fazer o download da chumaceira no website da </a:t>
            </a:r>
            <a:r>
              <a:rPr lang="pt-PT" sz="4000" dirty="0" err="1"/>
              <a:t>Norelem</a:t>
            </a:r>
            <a:r>
              <a:rPr lang="pt-PT" sz="4000" dirty="0"/>
              <a:t>.</a:t>
            </a:r>
          </a:p>
          <a:p>
            <a:r>
              <a:rPr lang="pt-PT" sz="4000" dirty="0"/>
              <a:t>Desenhar um veio redondo. Assemblar o veio a passar pelo furo central da chumaceira.</a:t>
            </a:r>
            <a:endParaRPr lang="en-GB" sz="40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E0A6226-5067-58E9-3275-3ABAE8E16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4608" y="0"/>
            <a:ext cx="57973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9731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4F307290-326B-2013-7E7C-0E071A6CD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7478" y="652461"/>
            <a:ext cx="2911254" cy="1293421"/>
          </a:xfrm>
        </p:spPr>
        <p:txBody>
          <a:bodyPr>
            <a:normAutofit/>
          </a:bodyPr>
          <a:lstStyle/>
          <a:p>
            <a:r>
              <a:rPr lang="pt-PT" sz="6000" b="1" dirty="0"/>
              <a:t>Dúvidas</a:t>
            </a:r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09D97ED8-74C4-589A-40DA-9990EF91EAB8}"/>
              </a:ext>
            </a:extLst>
          </p:cNvPr>
          <p:cNvSpPr/>
          <p:nvPr/>
        </p:nvSpPr>
        <p:spPr>
          <a:xfrm>
            <a:off x="4861711" y="2272420"/>
            <a:ext cx="2192710" cy="2553077"/>
          </a:xfrm>
          <a:custGeom>
            <a:avLst/>
            <a:gdLst>
              <a:gd name="connsiteX0" fmla="*/ 0 w 2192710"/>
              <a:gd name="connsiteY0" fmla="*/ 174451 h 2854277"/>
              <a:gd name="connsiteX1" fmla="*/ 2181885 w 2192710"/>
              <a:gd name="connsiteY1" fmla="*/ 201612 h 2854277"/>
              <a:gd name="connsiteX2" fmla="*/ 869133 w 2192710"/>
              <a:gd name="connsiteY2" fmla="*/ 2202428 h 2854277"/>
              <a:gd name="connsiteX3" fmla="*/ 1566249 w 2192710"/>
              <a:gd name="connsiteY3" fmla="*/ 2854277 h 2854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92710" h="2854277">
                <a:moveTo>
                  <a:pt x="0" y="174451"/>
                </a:moveTo>
                <a:cubicBezTo>
                  <a:pt x="1018515" y="19033"/>
                  <a:pt x="2037030" y="-136384"/>
                  <a:pt x="2181885" y="201612"/>
                </a:cubicBezTo>
                <a:cubicBezTo>
                  <a:pt x="2326740" y="539608"/>
                  <a:pt x="971739" y="1760317"/>
                  <a:pt x="869133" y="2202428"/>
                </a:cubicBezTo>
                <a:cubicBezTo>
                  <a:pt x="766527" y="2644539"/>
                  <a:pt x="1448554" y="2692824"/>
                  <a:pt x="1566249" y="2854277"/>
                </a:cubicBez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F7AEC38-0DED-5091-33C7-F4C58D010037}"/>
              </a:ext>
            </a:extLst>
          </p:cNvPr>
          <p:cNvSpPr/>
          <p:nvPr/>
        </p:nvSpPr>
        <p:spPr>
          <a:xfrm>
            <a:off x="6283105" y="5341545"/>
            <a:ext cx="298764" cy="21728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16590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B2C8A5F-C4C0-AA23-2280-18573ED15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54" y="2897666"/>
            <a:ext cx="12029146" cy="3786414"/>
          </a:xfrm>
          <a:prstGeom prst="rect">
            <a:avLst/>
          </a:prstGeom>
        </p:spPr>
      </p:pic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F15E19E0-D48A-44B2-20EF-0FCD2908DD19}"/>
              </a:ext>
            </a:extLst>
          </p:cNvPr>
          <p:cNvSpPr/>
          <p:nvPr/>
        </p:nvSpPr>
        <p:spPr>
          <a:xfrm>
            <a:off x="3141279" y="3462878"/>
            <a:ext cx="6648352" cy="389299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5F18F93-24D5-E462-7CAC-92EA45DEA241}"/>
              </a:ext>
            </a:extLst>
          </p:cNvPr>
          <p:cNvSpPr/>
          <p:nvPr/>
        </p:nvSpPr>
        <p:spPr>
          <a:xfrm>
            <a:off x="3141279" y="3018804"/>
            <a:ext cx="6988820" cy="389299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DBCB3142-AB2B-FD32-E105-C4317837C476}"/>
              </a:ext>
            </a:extLst>
          </p:cNvPr>
          <p:cNvSpPr/>
          <p:nvPr/>
        </p:nvSpPr>
        <p:spPr>
          <a:xfrm>
            <a:off x="3141279" y="3933627"/>
            <a:ext cx="6648352" cy="389299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CEC04557-42AB-F327-AC8D-34E492591306}"/>
              </a:ext>
            </a:extLst>
          </p:cNvPr>
          <p:cNvSpPr/>
          <p:nvPr/>
        </p:nvSpPr>
        <p:spPr>
          <a:xfrm>
            <a:off x="3141278" y="4355761"/>
            <a:ext cx="9050721" cy="512190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FF549C4D-38E0-3264-8AB6-8215E5913B42}"/>
              </a:ext>
            </a:extLst>
          </p:cNvPr>
          <p:cNvSpPr/>
          <p:nvPr/>
        </p:nvSpPr>
        <p:spPr>
          <a:xfrm>
            <a:off x="3141277" y="4836687"/>
            <a:ext cx="6307885" cy="389299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727D2348-F931-B08B-49A9-9D65C6FAB566}"/>
              </a:ext>
            </a:extLst>
          </p:cNvPr>
          <p:cNvSpPr/>
          <p:nvPr/>
        </p:nvSpPr>
        <p:spPr>
          <a:xfrm>
            <a:off x="3114640" y="5281962"/>
            <a:ext cx="7842310" cy="389299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565687D8-183D-8650-F3CE-51681EA49E4E}"/>
              </a:ext>
            </a:extLst>
          </p:cNvPr>
          <p:cNvSpPr/>
          <p:nvPr/>
        </p:nvSpPr>
        <p:spPr>
          <a:xfrm>
            <a:off x="3114640" y="5767846"/>
            <a:ext cx="5925961" cy="389299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98B79B1A-131A-EA35-BAC9-03DA36DEB0CC}"/>
              </a:ext>
            </a:extLst>
          </p:cNvPr>
          <p:cNvSpPr/>
          <p:nvPr/>
        </p:nvSpPr>
        <p:spPr>
          <a:xfrm>
            <a:off x="3110588" y="6239491"/>
            <a:ext cx="8644030" cy="389299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823DE1CF-8EB3-1388-3F2C-88F69E12C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7614" y="3482987"/>
            <a:ext cx="344969" cy="3267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896899A-130C-9CC5-20CF-7ADF80AD90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9969" y="3000263"/>
            <a:ext cx="344969" cy="3267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E552CF3F-74F8-E968-5CD4-4328086A8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0861" y="3939488"/>
            <a:ext cx="344969" cy="3267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667DD35-58AF-FCAE-A8F3-E6F2A7E590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9275" y="4777895"/>
            <a:ext cx="344969" cy="3267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7C12E9B5-0824-DE85-A1E5-F5A445926A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9162" y="4868820"/>
            <a:ext cx="344969" cy="326700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10209328-D657-12DB-AD93-A2715FE0E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7021" y="5328925"/>
            <a:ext cx="344969" cy="326700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093C2CFA-F9EB-7FD5-89AA-228D07FEF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4193" y="5778266"/>
            <a:ext cx="344969" cy="326700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33EDCA52-72FC-1CB4-BAC7-4ACCC5722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6544" y="6255910"/>
            <a:ext cx="344969" cy="326700"/>
          </a:xfrm>
          <a:prstGeom prst="rect">
            <a:avLst/>
          </a:prstGeom>
        </p:spPr>
      </p:pic>
      <p:sp>
        <p:nvSpPr>
          <p:cNvPr id="26" name="Título 1">
            <a:extLst>
              <a:ext uri="{FF2B5EF4-FFF2-40B4-BE49-F238E27FC236}">
                <a16:creationId xmlns:a16="http://schemas.microsoft.com/office/drawing/2014/main" id="{8DF539DF-FB2E-8581-14A1-A89E8A96DF76}"/>
              </a:ext>
            </a:extLst>
          </p:cNvPr>
          <p:cNvSpPr txBox="1">
            <a:spLocks/>
          </p:cNvSpPr>
          <p:nvPr/>
        </p:nvSpPr>
        <p:spPr>
          <a:xfrm>
            <a:off x="162854" y="173921"/>
            <a:ext cx="11866292" cy="27428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4800" b="1" dirty="0">
                <a:solidFill>
                  <a:schemeClr val="accent2"/>
                </a:solidFill>
              </a:rPr>
              <a:t>Exercício Final</a:t>
            </a:r>
            <a:r>
              <a:rPr lang="pt-PT" sz="4800" b="1" dirty="0"/>
              <a:t>:</a:t>
            </a:r>
          </a:p>
          <a:p>
            <a:r>
              <a:rPr lang="pt-PT" sz="4000" dirty="0"/>
              <a:t>Enviar um e-mail </a:t>
            </a:r>
            <a:r>
              <a:rPr lang="pt-PT" sz="4000" u="sng" dirty="0"/>
              <a:t>para o formador</a:t>
            </a:r>
            <a:r>
              <a:rPr lang="pt-PT" sz="4000" dirty="0"/>
              <a:t> com um texto escrito num ficheiro Word a explicar como é que enquadrou os objetivos ao longo dos exercícios das sessões.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0257258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1993</TotalTime>
  <Words>423</Words>
  <Application>Microsoft Office PowerPoint</Application>
  <PresentationFormat>Ecrã Panorâmico</PresentationFormat>
  <Paragraphs>74</Paragraphs>
  <Slides>33</Slides>
  <Notes>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33</vt:i4>
      </vt:variant>
    </vt:vector>
  </HeadingPairs>
  <TitlesOfParts>
    <vt:vector size="38" baseType="lpstr">
      <vt:lpstr>Aptos</vt:lpstr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Objetivos a cumprir para atingir o Perfil de Saída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Objetivos a cumprir para atingir o Perfil de Saída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Dúvidas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Miguel Barbosa LikeWise Pro</dc:creator>
  <cp:lastModifiedBy>Miguel Barbosa LikeWise Pro</cp:lastModifiedBy>
  <cp:revision>1526</cp:revision>
  <dcterms:created xsi:type="dcterms:W3CDTF">2023-10-03T13:09:22Z</dcterms:created>
  <dcterms:modified xsi:type="dcterms:W3CDTF">2024-04-12T09:54:41Z</dcterms:modified>
</cp:coreProperties>
</file>